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  <p:sldMasterId id="2147484402" r:id="rId2"/>
  </p:sldMasterIdLst>
  <p:notesMasterIdLst>
    <p:notesMasterId r:id="rId30"/>
  </p:notesMasterIdLst>
  <p:sldIdLst>
    <p:sldId id="582" r:id="rId3"/>
    <p:sldId id="644" r:id="rId4"/>
    <p:sldId id="261" r:id="rId5"/>
    <p:sldId id="694" r:id="rId6"/>
    <p:sldId id="695" r:id="rId7"/>
    <p:sldId id="696" r:id="rId8"/>
    <p:sldId id="697" r:id="rId9"/>
    <p:sldId id="698" r:id="rId10"/>
    <p:sldId id="699" r:id="rId11"/>
    <p:sldId id="701" r:id="rId12"/>
    <p:sldId id="702" r:id="rId13"/>
    <p:sldId id="705" r:id="rId14"/>
    <p:sldId id="706" r:id="rId15"/>
    <p:sldId id="707" r:id="rId16"/>
    <p:sldId id="719" r:id="rId17"/>
    <p:sldId id="716" r:id="rId18"/>
    <p:sldId id="708" r:id="rId19"/>
    <p:sldId id="709" r:id="rId20"/>
    <p:sldId id="710" r:id="rId21"/>
    <p:sldId id="711" r:id="rId22"/>
    <p:sldId id="712" r:id="rId23"/>
    <p:sldId id="713" r:id="rId24"/>
    <p:sldId id="714" r:id="rId25"/>
    <p:sldId id="715" r:id="rId26"/>
    <p:sldId id="717" r:id="rId27"/>
    <p:sldId id="718" r:id="rId28"/>
    <p:sldId id="720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2500" autoAdjust="0"/>
  </p:normalViewPr>
  <p:slideViewPr>
    <p:cSldViewPr>
      <p:cViewPr varScale="1">
        <p:scale>
          <a:sx n="105" d="100"/>
          <a:sy n="105" d="100"/>
        </p:scale>
        <p:origin x="7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5127EDB-0396-4519-999F-A45C812CB0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931BA1A-3D6B-4A43-84F5-8131A98F9ED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7BBE547-A3B6-44E3-AD0A-E78295AB0D5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0FE2BDCA-23FD-49E5-913A-CDEFDBB6A62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CADC0CDE-A578-488C-A509-B3194ABB9AE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8976AE5D-3DED-4F85-BAB0-C5A2F2B7F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/>
            </a:lvl1pPr>
          </a:lstStyle>
          <a:p>
            <a:pPr>
              <a:defRPr/>
            </a:pPr>
            <a:fld id="{B9B2ECC7-0AFE-43DD-AC84-BC9BAFEB5F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4093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496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8665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6389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9014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6926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9180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758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3846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096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5460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281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4670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7154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67349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1209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186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05676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64876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79189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8486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pPr>
              <a:defRPr/>
            </a:pPr>
            <a:fld id="{8CD832EE-70A8-42A4-B559-22BB10D2D4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218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F4EA69-A88E-4A21-A87C-C589144D0F16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065200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365AEAE6-FA6A-497F-9284-2875E688483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25369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9C9C64-0C41-4942-BA2E-DF76623BD65E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60762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0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EDF1CA-1601-4D1B-A727-F4E005B0B2CF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722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BC6C6B-400C-4DBA-B29B-A4D6289E3EF6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9095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64C1A-7882-49FA-9E21-05086A82B233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0153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724C6F-B38B-4E50-B1CF-9ADB79BA49E5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70563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BAADEC-A5F4-40E1-9564-0169236787B7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6884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6AC809-096C-4182-908F-E6B415D49AF8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87743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C249-420E-4435-841A-4E219055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884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98D4A-B240-45B6-9FA5-E04151CFA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EBDFE-5535-4472-ABEB-15239EB18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26145-2343-4E67-9DAF-C4CE577079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DDF5FF-0657-4490-965B-C0BD5E3DD2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6BA326-8312-4A44-B05A-B86E45321B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5F28CD-E10D-436D-A3AF-81DD5859BFB8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23389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D832EE-70A8-42A4-B559-22BB10D2D4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5757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72313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5AEAE6-FA6A-497F-9284-2875E688483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43189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799810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2651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EDF1CA-1601-4D1B-A727-F4E005B0B2CF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2041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BC6C6B-400C-4DBA-B29B-A4D6289E3EF6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66529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698008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6858000"/>
          </a:xfrm>
          <a:solidFill>
            <a:schemeClr val="bg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12071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7758802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957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7755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2929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3" r:id="rId1"/>
    <p:sldLayoutId id="2147484404" r:id="rId2"/>
    <p:sldLayoutId id="2147484405" r:id="rId3"/>
    <p:sldLayoutId id="2147484406" r:id="rId4"/>
    <p:sldLayoutId id="2147484407" r:id="rId5"/>
    <p:sldLayoutId id="2147484408" r:id="rId6"/>
    <p:sldLayoutId id="2147484409" r:id="rId7"/>
    <p:sldLayoutId id="2147484410" r:id="rId8"/>
    <p:sldLayoutId id="2147484411" r:id="rId9"/>
    <p:sldLayoutId id="2147484412" r:id="rId10"/>
    <p:sldLayoutId id="214748441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BE65F44-04A6-4316-860B-0E1E7EC1F78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295400"/>
            <a:ext cx="7623175" cy="17526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PAIRWISE Alignment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D7989A2E-97D1-6940-8D8D-390901713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492752"/>
            <a:ext cx="5918454" cy="1069848"/>
          </a:xfrm>
        </p:spPr>
        <p:txBody>
          <a:bodyPr/>
          <a:lstStyle/>
          <a:p>
            <a:r>
              <a:rPr lang="en-VN" sz="2400" dirty="0"/>
              <a:t>GS. TS.  Lê Sỹ Vinh</a:t>
            </a:r>
          </a:p>
          <a:p>
            <a:r>
              <a:rPr lang="en-VN" i="1" dirty="0"/>
              <a:t>(some contents are from internet)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25A0036-DFDF-0B4F-B42F-9A9BA7FE94E0}"/>
              </a:ext>
            </a:extLst>
          </p:cNvPr>
          <p:cNvSpPr txBox="1"/>
          <p:nvPr/>
        </p:nvSpPr>
        <p:spPr>
          <a:xfrm>
            <a:off x="838200" y="634425"/>
            <a:ext cx="40984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GENOME DIFFERENCE</a:t>
            </a:r>
            <a:endParaRPr lang="en-VN" sz="3200" dirty="0">
              <a:latin typeface="+mj-lt"/>
            </a:endParaRPr>
          </a:p>
        </p:txBody>
      </p:sp>
      <p:pic>
        <p:nvPicPr>
          <p:cNvPr id="5" name="Picture 2" descr="How Genetically Similar Are Humans To Other Life Forms?">
            <a:extLst>
              <a:ext uri="{FF2B5EF4-FFF2-40B4-BE49-F238E27FC236}">
                <a16:creationId xmlns:a16="http://schemas.microsoft.com/office/drawing/2014/main" id="{AF5A1631-77F4-5B41-807D-EEF694356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03" y="1333500"/>
            <a:ext cx="5219700" cy="5219700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67" t="24792" r="24167" b="8300"/>
          <a:stretch/>
        </p:blipFill>
        <p:spPr>
          <a:xfrm>
            <a:off x="1790700" y="1143000"/>
            <a:ext cx="5562600" cy="5562601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3505200" y="457200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Evolution</a:t>
            </a:r>
            <a:endParaRPr lang="en-VN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8029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3505200" y="457200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Evolution</a:t>
            </a:r>
            <a:endParaRPr lang="en-VN" sz="3200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CCD81B-82AC-864E-B7DE-9A5DC4381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1219200"/>
            <a:ext cx="5676900" cy="5392344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033827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3505200" y="457200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Evolution</a:t>
            </a:r>
            <a:endParaRPr lang="en-VN" sz="32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1117C-AF45-494E-B74D-ED499624B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219901"/>
            <a:ext cx="5562600" cy="5477675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78395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3505200" y="457200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Evolution</a:t>
            </a:r>
            <a:endParaRPr lang="en-VN" sz="3200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CB93D-2EA9-7F44-9FEA-E218CDEB8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219200"/>
            <a:ext cx="5617580" cy="5334000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534112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3505200" y="457200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Evolution</a:t>
            </a:r>
            <a:endParaRPr lang="en-VN" sz="32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E0EED-66CC-E245-A2BD-B9CF1950F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926" y="1143001"/>
            <a:ext cx="4695825" cy="441960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A2007D-AB47-98D3-FE08-BDB59685A076}"/>
              </a:ext>
            </a:extLst>
          </p:cNvPr>
          <p:cNvSpPr txBox="1"/>
          <p:nvPr/>
        </p:nvSpPr>
        <p:spPr>
          <a:xfrm>
            <a:off x="228600" y="1167064"/>
            <a:ext cx="370692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VN" sz="2400" dirty="0"/>
              <a:t>Two sequences evolved from the same ancestor/origin are called </a:t>
            </a:r>
            <a:r>
              <a:rPr lang="en-VN" sz="2400" b="1" dirty="0"/>
              <a:t>‘homology’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VN" sz="24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VN" sz="2400" dirty="0"/>
              <a:t>Two homologous sequences might be different in both length and content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VN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89134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838200" y="57510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Pairwise alignment</a:t>
            </a:r>
            <a:endParaRPr lang="en-VN" sz="32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117030-2164-8049-B883-EFDFD054F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600200"/>
            <a:ext cx="5867400" cy="1136935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7E0ECE-651D-E346-9BBF-659E853FD6C9}"/>
              </a:ext>
            </a:extLst>
          </p:cNvPr>
          <p:cNvSpPr txBox="1"/>
          <p:nvPr/>
        </p:nvSpPr>
        <p:spPr>
          <a:xfrm>
            <a:off x="990600" y="3124200"/>
            <a:ext cx="708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two homologous nucleotide sequences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Y,</a:t>
            </a:r>
            <a:r>
              <a:rPr lang="en-US" dirty="0"/>
              <a:t> a</a:t>
            </a:r>
            <a:r>
              <a:rPr lang="en-VN" dirty="0"/>
              <a:t>lign nucleotides in the two sequences such that two nucleotides at the same position came from the same ancestor.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F65E76-19DC-0CA2-4D4B-843D8EE3B2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367760"/>
                  </p:ext>
                </p:extLst>
              </p:nvPr>
            </p:nvGraphicFramePr>
            <p:xfrm>
              <a:off x="1054442" y="4180224"/>
              <a:ext cx="6032155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61465">
                      <a:extLst>
                        <a:ext uri="{9D8B030D-6E8A-4147-A177-3AD203B41FA5}">
                          <a16:colId xmlns:a16="http://schemas.microsoft.com/office/drawing/2014/main" val="3680842551"/>
                        </a:ext>
                      </a:extLst>
                    </a:gridCol>
                    <a:gridCol w="442673">
                      <a:extLst>
                        <a:ext uri="{9D8B030D-6E8A-4147-A177-3AD203B41FA5}">
                          <a16:colId xmlns:a16="http://schemas.microsoft.com/office/drawing/2014/main" val="3354930322"/>
                        </a:ext>
                      </a:extLst>
                    </a:gridCol>
                    <a:gridCol w="476119">
                      <a:extLst>
                        <a:ext uri="{9D8B030D-6E8A-4147-A177-3AD203B41FA5}">
                          <a16:colId xmlns:a16="http://schemas.microsoft.com/office/drawing/2014/main" val="3858702093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1332548655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34402088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498064054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407955715"/>
                        </a:ext>
                      </a:extLst>
                    </a:gridCol>
                    <a:gridCol w="425950">
                      <a:extLst>
                        <a:ext uri="{9D8B030D-6E8A-4147-A177-3AD203B41FA5}">
                          <a16:colId xmlns:a16="http://schemas.microsoft.com/office/drawing/2014/main" val="2738196416"/>
                        </a:ext>
                      </a:extLst>
                    </a:gridCol>
                    <a:gridCol w="508582">
                      <a:extLst>
                        <a:ext uri="{9D8B030D-6E8A-4147-A177-3AD203B41FA5}">
                          <a16:colId xmlns:a16="http://schemas.microsoft.com/office/drawing/2014/main" val="2754264650"/>
                        </a:ext>
                      </a:extLst>
                    </a:gridCol>
                    <a:gridCol w="442673">
                      <a:extLst>
                        <a:ext uri="{9D8B030D-6E8A-4147-A177-3AD203B41FA5}">
                          <a16:colId xmlns:a16="http://schemas.microsoft.com/office/drawing/2014/main" val="508700365"/>
                        </a:ext>
                      </a:extLst>
                    </a:gridCol>
                    <a:gridCol w="541045">
                      <a:extLst>
                        <a:ext uri="{9D8B030D-6E8A-4147-A177-3AD203B41FA5}">
                          <a16:colId xmlns:a16="http://schemas.microsoft.com/office/drawing/2014/main" val="3243112261"/>
                        </a:ext>
                      </a:extLst>
                    </a:gridCol>
                  </a:tblGrid>
                  <a:tr h="359192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1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2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3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4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5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6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7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8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9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10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41414544"/>
                      </a:ext>
                    </a:extLst>
                  </a:tr>
                  <a:tr h="359192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>
                              <a:effectLst/>
                            </a:rPr>
                            <a:t>C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T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A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C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G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G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>
                              <a:effectLst/>
                            </a:rPr>
                            <a:t>T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T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01003266"/>
                      </a:ext>
                    </a:extLst>
                  </a:tr>
                  <a:tr h="359192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1">
                            <a:tint val="20000"/>
                            <a:alpha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C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G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G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681345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F65E76-19DC-0CA2-4D4B-843D8EE3B2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367760"/>
                  </p:ext>
                </p:extLst>
              </p:nvPr>
            </p:nvGraphicFramePr>
            <p:xfrm>
              <a:off x="1054442" y="4180224"/>
              <a:ext cx="6032155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61465">
                      <a:extLst>
                        <a:ext uri="{9D8B030D-6E8A-4147-A177-3AD203B41FA5}">
                          <a16:colId xmlns:a16="http://schemas.microsoft.com/office/drawing/2014/main" val="3680842551"/>
                        </a:ext>
                      </a:extLst>
                    </a:gridCol>
                    <a:gridCol w="442673">
                      <a:extLst>
                        <a:ext uri="{9D8B030D-6E8A-4147-A177-3AD203B41FA5}">
                          <a16:colId xmlns:a16="http://schemas.microsoft.com/office/drawing/2014/main" val="3354930322"/>
                        </a:ext>
                      </a:extLst>
                    </a:gridCol>
                    <a:gridCol w="476119">
                      <a:extLst>
                        <a:ext uri="{9D8B030D-6E8A-4147-A177-3AD203B41FA5}">
                          <a16:colId xmlns:a16="http://schemas.microsoft.com/office/drawing/2014/main" val="3858702093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1332548655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34402088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498064054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407955715"/>
                        </a:ext>
                      </a:extLst>
                    </a:gridCol>
                    <a:gridCol w="425950">
                      <a:extLst>
                        <a:ext uri="{9D8B030D-6E8A-4147-A177-3AD203B41FA5}">
                          <a16:colId xmlns:a16="http://schemas.microsoft.com/office/drawing/2014/main" val="2738196416"/>
                        </a:ext>
                      </a:extLst>
                    </a:gridCol>
                    <a:gridCol w="508582">
                      <a:extLst>
                        <a:ext uri="{9D8B030D-6E8A-4147-A177-3AD203B41FA5}">
                          <a16:colId xmlns:a16="http://schemas.microsoft.com/office/drawing/2014/main" val="2754264650"/>
                        </a:ext>
                      </a:extLst>
                    </a:gridCol>
                    <a:gridCol w="442673">
                      <a:extLst>
                        <a:ext uri="{9D8B030D-6E8A-4147-A177-3AD203B41FA5}">
                          <a16:colId xmlns:a16="http://schemas.microsoft.com/office/drawing/2014/main" val="508700365"/>
                        </a:ext>
                      </a:extLst>
                    </a:gridCol>
                    <a:gridCol w="541045">
                      <a:extLst>
                        <a:ext uri="{9D8B030D-6E8A-4147-A177-3AD203B41FA5}">
                          <a16:colId xmlns:a16="http://schemas.microsoft.com/office/drawing/2014/main" val="324311226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1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2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3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4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5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6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7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8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9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10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414145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935" t="-127586" r="-346729" b="-15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>
                              <a:effectLst/>
                            </a:rPr>
                            <a:t>C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T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A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C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G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G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>
                              <a:effectLst/>
                            </a:rPr>
                            <a:t>T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>
                              <a:effectLst/>
                            </a:rPr>
                            <a:t>T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010032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935" t="-227586" r="-346729" b="-5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1">
                            <a:tint val="20000"/>
                            <a:alpha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C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G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G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681345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3315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838200" y="57510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Pairwise alignment</a:t>
            </a:r>
            <a:endParaRPr lang="en-VN" sz="32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E0ECE-651D-E346-9BBF-659E853FD6C9}"/>
              </a:ext>
            </a:extLst>
          </p:cNvPr>
          <p:cNvSpPr txBox="1"/>
          <p:nvPr/>
        </p:nvSpPr>
        <p:spPr>
          <a:xfrm>
            <a:off x="723900" y="3007701"/>
            <a:ext cx="76962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Insert gap character ‘-’into both sequences such that two aligned sequences are mostly similar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Define a matching score system such as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1: If two nucleotides at the same position are identical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-1: Otherwise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V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CB0C772-5D4B-10F3-6DFF-9488293CDD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6830640"/>
                  </p:ext>
                </p:extLst>
              </p:nvPr>
            </p:nvGraphicFramePr>
            <p:xfrm>
              <a:off x="914400" y="1521763"/>
              <a:ext cx="6032155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61465">
                      <a:extLst>
                        <a:ext uri="{9D8B030D-6E8A-4147-A177-3AD203B41FA5}">
                          <a16:colId xmlns:a16="http://schemas.microsoft.com/office/drawing/2014/main" val="1216532585"/>
                        </a:ext>
                      </a:extLst>
                    </a:gridCol>
                    <a:gridCol w="442673">
                      <a:extLst>
                        <a:ext uri="{9D8B030D-6E8A-4147-A177-3AD203B41FA5}">
                          <a16:colId xmlns:a16="http://schemas.microsoft.com/office/drawing/2014/main" val="2830785368"/>
                        </a:ext>
                      </a:extLst>
                    </a:gridCol>
                    <a:gridCol w="476119">
                      <a:extLst>
                        <a:ext uri="{9D8B030D-6E8A-4147-A177-3AD203B41FA5}">
                          <a16:colId xmlns:a16="http://schemas.microsoft.com/office/drawing/2014/main" val="599647135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3353129087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1934210644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4094334083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944713380"/>
                        </a:ext>
                      </a:extLst>
                    </a:gridCol>
                    <a:gridCol w="425950">
                      <a:extLst>
                        <a:ext uri="{9D8B030D-6E8A-4147-A177-3AD203B41FA5}">
                          <a16:colId xmlns:a16="http://schemas.microsoft.com/office/drawing/2014/main" val="679648421"/>
                        </a:ext>
                      </a:extLst>
                    </a:gridCol>
                    <a:gridCol w="508582">
                      <a:extLst>
                        <a:ext uri="{9D8B030D-6E8A-4147-A177-3AD203B41FA5}">
                          <a16:colId xmlns:a16="http://schemas.microsoft.com/office/drawing/2014/main" val="3098199092"/>
                        </a:ext>
                      </a:extLst>
                    </a:gridCol>
                    <a:gridCol w="442673">
                      <a:extLst>
                        <a:ext uri="{9D8B030D-6E8A-4147-A177-3AD203B41FA5}">
                          <a16:colId xmlns:a16="http://schemas.microsoft.com/office/drawing/2014/main" val="3036864811"/>
                        </a:ext>
                      </a:extLst>
                    </a:gridCol>
                    <a:gridCol w="541045">
                      <a:extLst>
                        <a:ext uri="{9D8B030D-6E8A-4147-A177-3AD203B41FA5}">
                          <a16:colId xmlns:a16="http://schemas.microsoft.com/office/drawing/2014/main" val="90804365"/>
                        </a:ext>
                      </a:extLst>
                    </a:gridCol>
                  </a:tblGrid>
                  <a:tr h="359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1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2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3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4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5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6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7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8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9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10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125856"/>
                      </a:ext>
                    </a:extLst>
                  </a:tr>
                  <a:tr h="3591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C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A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C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G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G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T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T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28262479"/>
                      </a:ext>
                    </a:extLst>
                  </a:tr>
                  <a:tr h="3591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C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G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G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751293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CB0C772-5D4B-10F3-6DFF-9488293CDD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6830640"/>
                  </p:ext>
                </p:extLst>
              </p:nvPr>
            </p:nvGraphicFramePr>
            <p:xfrm>
              <a:off x="914400" y="1521763"/>
              <a:ext cx="6032155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61465">
                      <a:extLst>
                        <a:ext uri="{9D8B030D-6E8A-4147-A177-3AD203B41FA5}">
                          <a16:colId xmlns:a16="http://schemas.microsoft.com/office/drawing/2014/main" val="1216532585"/>
                        </a:ext>
                      </a:extLst>
                    </a:gridCol>
                    <a:gridCol w="442673">
                      <a:extLst>
                        <a:ext uri="{9D8B030D-6E8A-4147-A177-3AD203B41FA5}">
                          <a16:colId xmlns:a16="http://schemas.microsoft.com/office/drawing/2014/main" val="2830785368"/>
                        </a:ext>
                      </a:extLst>
                    </a:gridCol>
                    <a:gridCol w="476119">
                      <a:extLst>
                        <a:ext uri="{9D8B030D-6E8A-4147-A177-3AD203B41FA5}">
                          <a16:colId xmlns:a16="http://schemas.microsoft.com/office/drawing/2014/main" val="599647135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3353129087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1934210644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4094334083"/>
                        </a:ext>
                      </a:extLst>
                    </a:gridCol>
                    <a:gridCol w="458412">
                      <a:extLst>
                        <a:ext uri="{9D8B030D-6E8A-4147-A177-3AD203B41FA5}">
                          <a16:colId xmlns:a16="http://schemas.microsoft.com/office/drawing/2014/main" val="944713380"/>
                        </a:ext>
                      </a:extLst>
                    </a:gridCol>
                    <a:gridCol w="425950">
                      <a:extLst>
                        <a:ext uri="{9D8B030D-6E8A-4147-A177-3AD203B41FA5}">
                          <a16:colId xmlns:a16="http://schemas.microsoft.com/office/drawing/2014/main" val="679648421"/>
                        </a:ext>
                      </a:extLst>
                    </a:gridCol>
                    <a:gridCol w="508582">
                      <a:extLst>
                        <a:ext uri="{9D8B030D-6E8A-4147-A177-3AD203B41FA5}">
                          <a16:colId xmlns:a16="http://schemas.microsoft.com/office/drawing/2014/main" val="3098199092"/>
                        </a:ext>
                      </a:extLst>
                    </a:gridCol>
                    <a:gridCol w="442673">
                      <a:extLst>
                        <a:ext uri="{9D8B030D-6E8A-4147-A177-3AD203B41FA5}">
                          <a16:colId xmlns:a16="http://schemas.microsoft.com/office/drawing/2014/main" val="3036864811"/>
                        </a:ext>
                      </a:extLst>
                    </a:gridCol>
                    <a:gridCol w="541045">
                      <a:extLst>
                        <a:ext uri="{9D8B030D-6E8A-4147-A177-3AD203B41FA5}">
                          <a16:colId xmlns:a16="http://schemas.microsoft.com/office/drawing/2014/main" val="9080436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1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2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3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4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5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6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7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8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9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10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12585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935" t="-120000" r="-346729" b="-1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C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A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C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G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G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T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T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282624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935" t="-227586" r="-346729" b="-5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C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G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G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751293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6820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838200" y="57510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Pairwise alignment: Score</a:t>
            </a:r>
            <a:endParaRPr lang="en-VN" sz="32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E0ECE-651D-E346-9BBF-659E853FD6C9}"/>
              </a:ext>
            </a:extLst>
          </p:cNvPr>
          <p:cNvSpPr txBox="1"/>
          <p:nvPr/>
        </p:nvSpPr>
        <p:spPr>
          <a:xfrm>
            <a:off x="842319" y="1651508"/>
            <a:ext cx="76962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The score of aligned sequences (pairwise alignment score)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V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CD5846-DDB9-F622-2C99-6EA03DBE5B11}"/>
                  </a:ext>
                </a:extLst>
              </p:cNvPr>
              <p:cNvSpPr txBox="1"/>
              <p:nvPr/>
            </p:nvSpPr>
            <p:spPr>
              <a:xfrm>
                <a:off x="918519" y="2277153"/>
                <a:ext cx="6477000" cy="1430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VN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V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VN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VN" b="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V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VN" dirty="0"/>
              </a:p>
              <a:p>
                <a:endParaRPr lang="en-US" dirty="0"/>
              </a:p>
              <a:p>
                <a:r>
                  <a:rPr lang="en-US" dirty="0"/>
                  <a:t>w</a:t>
                </a:r>
                <a:r>
                  <a:rPr lang="en-VN" dirty="0"/>
                  <a:t>here</a:t>
                </a:r>
                <a:r>
                  <a:rPr lang="en-VN" b="1" dirty="0"/>
                  <a:t> </a:t>
                </a:r>
                <a14:m>
                  <m:oMath xmlns:m="http://schemas.openxmlformats.org/officeDocument/2006/math">
                    <m:r>
                      <a:rPr lang="en-VN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VN" b="1" dirty="0"/>
                  <a:t> </a:t>
                </a:r>
                <a:r>
                  <a:rPr lang="en-VN" dirty="0"/>
                  <a:t>is the score between nucleotides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VN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VN" b="1" dirty="0"/>
                  <a:t> </a:t>
                </a:r>
                <a:r>
                  <a:rPr lang="en-V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VN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VN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CD5846-DDB9-F622-2C99-6EA03DBE5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519" y="2277153"/>
                <a:ext cx="6477000" cy="1430905"/>
              </a:xfrm>
              <a:prstGeom prst="rect">
                <a:avLst/>
              </a:prstGeom>
              <a:blipFill>
                <a:blip r:embed="rId3"/>
                <a:stretch>
                  <a:fillRect l="-783" t="-58407" b="-539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DB947F0-6D01-9028-EB0B-BE69841E30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7347170"/>
                  </p:ext>
                </p:extLst>
              </p:nvPr>
            </p:nvGraphicFramePr>
            <p:xfrm>
              <a:off x="1028700" y="4038600"/>
              <a:ext cx="7086600" cy="14630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1216532585"/>
                        </a:ext>
                      </a:extLst>
                    </a:gridCol>
                    <a:gridCol w="290709">
                      <a:extLst>
                        <a:ext uri="{9D8B030D-6E8A-4147-A177-3AD203B41FA5}">
                          <a16:colId xmlns:a16="http://schemas.microsoft.com/office/drawing/2014/main" val="2830785368"/>
                        </a:ext>
                      </a:extLst>
                    </a:gridCol>
                    <a:gridCol w="559346">
                      <a:extLst>
                        <a:ext uri="{9D8B030D-6E8A-4147-A177-3AD203B41FA5}">
                          <a16:colId xmlns:a16="http://schemas.microsoft.com/office/drawing/2014/main" val="599647135"/>
                        </a:ext>
                      </a:extLst>
                    </a:gridCol>
                    <a:gridCol w="538544">
                      <a:extLst>
                        <a:ext uri="{9D8B030D-6E8A-4147-A177-3AD203B41FA5}">
                          <a16:colId xmlns:a16="http://schemas.microsoft.com/office/drawing/2014/main" val="3353129087"/>
                        </a:ext>
                      </a:extLst>
                    </a:gridCol>
                    <a:gridCol w="538544">
                      <a:extLst>
                        <a:ext uri="{9D8B030D-6E8A-4147-A177-3AD203B41FA5}">
                          <a16:colId xmlns:a16="http://schemas.microsoft.com/office/drawing/2014/main" val="1934210644"/>
                        </a:ext>
                      </a:extLst>
                    </a:gridCol>
                    <a:gridCol w="538544">
                      <a:extLst>
                        <a:ext uri="{9D8B030D-6E8A-4147-A177-3AD203B41FA5}">
                          <a16:colId xmlns:a16="http://schemas.microsoft.com/office/drawing/2014/main" val="4094334083"/>
                        </a:ext>
                      </a:extLst>
                    </a:gridCol>
                    <a:gridCol w="538544">
                      <a:extLst>
                        <a:ext uri="{9D8B030D-6E8A-4147-A177-3AD203B41FA5}">
                          <a16:colId xmlns:a16="http://schemas.microsoft.com/office/drawing/2014/main" val="944713380"/>
                        </a:ext>
                      </a:extLst>
                    </a:gridCol>
                    <a:gridCol w="500408">
                      <a:extLst>
                        <a:ext uri="{9D8B030D-6E8A-4147-A177-3AD203B41FA5}">
                          <a16:colId xmlns:a16="http://schemas.microsoft.com/office/drawing/2014/main" val="679648421"/>
                        </a:ext>
                      </a:extLst>
                    </a:gridCol>
                    <a:gridCol w="597485">
                      <a:extLst>
                        <a:ext uri="{9D8B030D-6E8A-4147-A177-3AD203B41FA5}">
                          <a16:colId xmlns:a16="http://schemas.microsoft.com/office/drawing/2014/main" val="3098199092"/>
                        </a:ext>
                      </a:extLst>
                    </a:gridCol>
                    <a:gridCol w="520054">
                      <a:extLst>
                        <a:ext uri="{9D8B030D-6E8A-4147-A177-3AD203B41FA5}">
                          <a16:colId xmlns:a16="http://schemas.microsoft.com/office/drawing/2014/main" val="3036864811"/>
                        </a:ext>
                      </a:extLst>
                    </a:gridCol>
                    <a:gridCol w="635622">
                      <a:extLst>
                        <a:ext uri="{9D8B030D-6E8A-4147-A177-3AD203B41FA5}">
                          <a16:colId xmlns:a16="http://schemas.microsoft.com/office/drawing/2014/main" val="90804365"/>
                        </a:ext>
                      </a:extLst>
                    </a:gridCol>
                  </a:tblGrid>
                  <a:tr h="359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1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2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3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4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5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6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7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8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9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10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125856"/>
                      </a:ext>
                    </a:extLst>
                  </a:tr>
                  <a:tr h="3591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C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A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C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G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G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T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28262479"/>
                      </a:ext>
                    </a:extLst>
                  </a:tr>
                  <a:tr h="3591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C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G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G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75129312"/>
                      </a:ext>
                    </a:extLst>
                  </a:tr>
                  <a:tr h="3591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effectLst/>
                                    <a:latin typeface="Cambria Math" panose="02040503050406030204" pitchFamily="18" charset="0"/>
                                    <a:ea typeface="MS Mincho" panose="02020609040205080304" pitchFamily="49" charset="-128"/>
                                    <a:cs typeface="Arial" panose="020B0604020202020204" pitchFamily="34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VN" sz="2400" b="1" i="1" dirty="0" smtClean="0">
                                        <a:effectLst/>
                                        <a:latin typeface="Cambria Math" panose="02040503050406030204" pitchFamily="18" charset="0"/>
                                        <a:ea typeface="MS Mincho" panose="02020609040205080304" pitchFamily="49" charset="-128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VN" sz="2400" b="1" i="1" dirty="0" smtClean="0">
                                        <a:effectLst/>
                                        <a:latin typeface="Cambria Math" panose="02040503050406030204" pitchFamily="18" charset="0"/>
                                        <a:ea typeface="MS Mincho" panose="02020609040205080304" pitchFamily="49" charset="-128"/>
                                        <a:cs typeface="Arial" panose="020B0604020202020204" pitchFamily="34" charset="0"/>
                                      </a:rPr>
                                      <m:t>𝑿</m:t>
                                    </m:r>
                                    <m:r>
                                      <a:rPr lang="en-VN" sz="2400" b="1" i="1" dirty="0" smtClean="0">
                                        <a:effectLst/>
                                        <a:latin typeface="Cambria Math" panose="02040503050406030204" pitchFamily="18" charset="0"/>
                                        <a:ea typeface="MS Mincho" panose="02020609040205080304" pitchFamily="49" charset="-128"/>
                                        <a:cs typeface="Arial" panose="020B0604020202020204" pitchFamily="34" charset="0"/>
                                      </a:rPr>
                                      <m:t>, </m:t>
                                    </m:r>
                                    <m:r>
                                      <a:rPr lang="en-VN" sz="2400" b="1" i="1" dirty="0" smtClean="0">
                                        <a:effectLst/>
                                        <a:latin typeface="Cambria Math" panose="02040503050406030204" pitchFamily="18" charset="0"/>
                                        <a:ea typeface="MS Mincho" panose="02020609040205080304" pitchFamily="49" charset="-128"/>
                                        <a:cs typeface="Arial" panose="020B0604020202020204" pitchFamily="34" charset="0"/>
                                      </a:rPr>
                                      <m:t>𝒀</m:t>
                                    </m:r>
                                  </m:e>
                                </m:d>
                                <m:r>
                                  <a:rPr lang="en-US" sz="2400" b="1" i="1" dirty="0" smtClean="0">
                                    <a:effectLst/>
                                    <a:latin typeface="Cambria Math" panose="02040503050406030204" pitchFamily="18" charset="0"/>
                                    <a:ea typeface="MS Mincho" panose="02020609040205080304" pitchFamily="49" charset="-128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en-US" sz="2400" b="1" i="1" dirty="0" smtClean="0">
                                    <a:effectLst/>
                                    <a:latin typeface="Cambria Math" panose="02040503050406030204" pitchFamily="18" charset="0"/>
                                    <a:ea typeface="MS Mincho" panose="02020609040205080304" pitchFamily="49" charset="-128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b="1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b="1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b="1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2734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DB947F0-6D01-9028-EB0B-BE69841E30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7347170"/>
                  </p:ext>
                </p:extLst>
              </p:nvPr>
            </p:nvGraphicFramePr>
            <p:xfrm>
              <a:off x="1028700" y="4038600"/>
              <a:ext cx="7086600" cy="14630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1216532585"/>
                        </a:ext>
                      </a:extLst>
                    </a:gridCol>
                    <a:gridCol w="290709">
                      <a:extLst>
                        <a:ext uri="{9D8B030D-6E8A-4147-A177-3AD203B41FA5}">
                          <a16:colId xmlns:a16="http://schemas.microsoft.com/office/drawing/2014/main" val="2830785368"/>
                        </a:ext>
                      </a:extLst>
                    </a:gridCol>
                    <a:gridCol w="559346">
                      <a:extLst>
                        <a:ext uri="{9D8B030D-6E8A-4147-A177-3AD203B41FA5}">
                          <a16:colId xmlns:a16="http://schemas.microsoft.com/office/drawing/2014/main" val="599647135"/>
                        </a:ext>
                      </a:extLst>
                    </a:gridCol>
                    <a:gridCol w="538544">
                      <a:extLst>
                        <a:ext uri="{9D8B030D-6E8A-4147-A177-3AD203B41FA5}">
                          <a16:colId xmlns:a16="http://schemas.microsoft.com/office/drawing/2014/main" val="3353129087"/>
                        </a:ext>
                      </a:extLst>
                    </a:gridCol>
                    <a:gridCol w="538544">
                      <a:extLst>
                        <a:ext uri="{9D8B030D-6E8A-4147-A177-3AD203B41FA5}">
                          <a16:colId xmlns:a16="http://schemas.microsoft.com/office/drawing/2014/main" val="1934210644"/>
                        </a:ext>
                      </a:extLst>
                    </a:gridCol>
                    <a:gridCol w="538544">
                      <a:extLst>
                        <a:ext uri="{9D8B030D-6E8A-4147-A177-3AD203B41FA5}">
                          <a16:colId xmlns:a16="http://schemas.microsoft.com/office/drawing/2014/main" val="4094334083"/>
                        </a:ext>
                      </a:extLst>
                    </a:gridCol>
                    <a:gridCol w="538544">
                      <a:extLst>
                        <a:ext uri="{9D8B030D-6E8A-4147-A177-3AD203B41FA5}">
                          <a16:colId xmlns:a16="http://schemas.microsoft.com/office/drawing/2014/main" val="944713380"/>
                        </a:ext>
                      </a:extLst>
                    </a:gridCol>
                    <a:gridCol w="500408">
                      <a:extLst>
                        <a:ext uri="{9D8B030D-6E8A-4147-A177-3AD203B41FA5}">
                          <a16:colId xmlns:a16="http://schemas.microsoft.com/office/drawing/2014/main" val="679648421"/>
                        </a:ext>
                      </a:extLst>
                    </a:gridCol>
                    <a:gridCol w="597485">
                      <a:extLst>
                        <a:ext uri="{9D8B030D-6E8A-4147-A177-3AD203B41FA5}">
                          <a16:colId xmlns:a16="http://schemas.microsoft.com/office/drawing/2014/main" val="3098199092"/>
                        </a:ext>
                      </a:extLst>
                    </a:gridCol>
                    <a:gridCol w="520054">
                      <a:extLst>
                        <a:ext uri="{9D8B030D-6E8A-4147-A177-3AD203B41FA5}">
                          <a16:colId xmlns:a16="http://schemas.microsoft.com/office/drawing/2014/main" val="3036864811"/>
                        </a:ext>
                      </a:extLst>
                    </a:gridCol>
                    <a:gridCol w="635622">
                      <a:extLst>
                        <a:ext uri="{9D8B030D-6E8A-4147-A177-3AD203B41FA5}">
                          <a16:colId xmlns:a16="http://schemas.microsoft.com/office/drawing/2014/main" val="9080436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 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1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2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3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4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5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6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7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8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9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10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12585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694" t="-127586" r="-289583" b="-2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C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A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C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G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>
                              <a:effectLst/>
                            </a:rPr>
                            <a:t>G</a:t>
                          </a:r>
                          <a:endParaRPr lang="en-VN" sz="24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T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282624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694" t="-227586" r="-289583" b="-1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A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C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G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G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G</a:t>
                          </a:r>
                          <a:endParaRPr lang="en-VN" sz="2400" b="1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effectLst/>
                            </a:rPr>
                            <a:t>T</a:t>
                          </a:r>
                          <a:endParaRPr lang="en-VN" sz="24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751293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694" t="-327586" r="-289583" b="-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b="1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b="1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b="1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VN" sz="2400" dirty="0">
                              <a:effectLst/>
                              <a:latin typeface="Calibri" panose="020F050202020403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27343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22034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533400" y="575103"/>
            <a:ext cx="342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Pairwise alignments</a:t>
            </a:r>
            <a:endParaRPr lang="en-VN" sz="3200" dirty="0"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83E97B-54FF-7A59-5066-07ADCD8AFF53}"/>
              </a:ext>
            </a:extLst>
          </p:cNvPr>
          <p:cNvGraphicFramePr>
            <a:graphicFrameLocks noGrp="1"/>
          </p:cNvGraphicFramePr>
          <p:nvPr/>
        </p:nvGraphicFramePr>
        <p:xfrm>
          <a:off x="647700" y="2209800"/>
          <a:ext cx="3200400" cy="1981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161305445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7357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80663261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66173759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1676466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98724528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A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G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T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sym typeface="Symbol" pitchFamily="2" charset="2"/>
                        </a:rPr>
                        <a:t>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493763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A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301992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C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9525014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G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193803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-2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394436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sym typeface="Symbol" pitchFamily="2" charset="2"/>
                        </a:rPr>
                        <a:t>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246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2BA92BE-E020-E0F9-6077-2EBCC972C74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19600" y="351340"/>
              <a:ext cx="4571999" cy="615531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87872">
                      <a:extLst>
                        <a:ext uri="{9D8B030D-6E8A-4147-A177-3AD203B41FA5}">
                          <a16:colId xmlns:a16="http://schemas.microsoft.com/office/drawing/2014/main" val="2345082219"/>
                        </a:ext>
                      </a:extLst>
                    </a:gridCol>
                    <a:gridCol w="264923">
                      <a:extLst>
                        <a:ext uri="{9D8B030D-6E8A-4147-A177-3AD203B41FA5}">
                          <a16:colId xmlns:a16="http://schemas.microsoft.com/office/drawing/2014/main" val="191620978"/>
                        </a:ext>
                      </a:extLst>
                    </a:gridCol>
                    <a:gridCol w="284940">
                      <a:extLst>
                        <a:ext uri="{9D8B030D-6E8A-4147-A177-3AD203B41FA5}">
                          <a16:colId xmlns:a16="http://schemas.microsoft.com/office/drawing/2014/main" val="1890865894"/>
                        </a:ext>
                      </a:extLst>
                    </a:gridCol>
                    <a:gridCol w="274343">
                      <a:extLst>
                        <a:ext uri="{9D8B030D-6E8A-4147-A177-3AD203B41FA5}">
                          <a16:colId xmlns:a16="http://schemas.microsoft.com/office/drawing/2014/main" val="3383462933"/>
                        </a:ext>
                      </a:extLst>
                    </a:gridCol>
                    <a:gridCol w="274343">
                      <a:extLst>
                        <a:ext uri="{9D8B030D-6E8A-4147-A177-3AD203B41FA5}">
                          <a16:colId xmlns:a16="http://schemas.microsoft.com/office/drawing/2014/main" val="1259350914"/>
                        </a:ext>
                      </a:extLst>
                    </a:gridCol>
                    <a:gridCol w="274343">
                      <a:extLst>
                        <a:ext uri="{9D8B030D-6E8A-4147-A177-3AD203B41FA5}">
                          <a16:colId xmlns:a16="http://schemas.microsoft.com/office/drawing/2014/main" val="3599095810"/>
                        </a:ext>
                      </a:extLst>
                    </a:gridCol>
                    <a:gridCol w="274343">
                      <a:extLst>
                        <a:ext uri="{9D8B030D-6E8A-4147-A177-3AD203B41FA5}">
                          <a16:colId xmlns:a16="http://schemas.microsoft.com/office/drawing/2014/main" val="2364024499"/>
                        </a:ext>
                      </a:extLst>
                    </a:gridCol>
                    <a:gridCol w="254916">
                      <a:extLst>
                        <a:ext uri="{9D8B030D-6E8A-4147-A177-3AD203B41FA5}">
                          <a16:colId xmlns:a16="http://schemas.microsoft.com/office/drawing/2014/main" val="898968601"/>
                        </a:ext>
                      </a:extLst>
                    </a:gridCol>
                    <a:gridCol w="304369">
                      <a:extLst>
                        <a:ext uri="{9D8B030D-6E8A-4147-A177-3AD203B41FA5}">
                          <a16:colId xmlns:a16="http://schemas.microsoft.com/office/drawing/2014/main" val="2149233962"/>
                        </a:ext>
                      </a:extLst>
                    </a:gridCol>
                    <a:gridCol w="264923">
                      <a:extLst>
                        <a:ext uri="{9D8B030D-6E8A-4147-A177-3AD203B41FA5}">
                          <a16:colId xmlns:a16="http://schemas.microsoft.com/office/drawing/2014/main" val="2043312991"/>
                        </a:ext>
                      </a:extLst>
                    </a:gridCol>
                    <a:gridCol w="323797">
                      <a:extLst>
                        <a:ext uri="{9D8B030D-6E8A-4147-A177-3AD203B41FA5}">
                          <a16:colId xmlns:a16="http://schemas.microsoft.com/office/drawing/2014/main" val="1161841079"/>
                        </a:ext>
                      </a:extLst>
                    </a:gridCol>
                    <a:gridCol w="323797">
                      <a:extLst>
                        <a:ext uri="{9D8B030D-6E8A-4147-A177-3AD203B41FA5}">
                          <a16:colId xmlns:a16="http://schemas.microsoft.com/office/drawing/2014/main" val="2432649593"/>
                        </a:ext>
                      </a:extLst>
                    </a:gridCol>
                    <a:gridCol w="465090">
                      <a:extLst>
                        <a:ext uri="{9D8B030D-6E8A-4147-A177-3AD203B41FA5}">
                          <a16:colId xmlns:a16="http://schemas.microsoft.com/office/drawing/2014/main" val="1038746795"/>
                        </a:ext>
                      </a:extLst>
                    </a:gridCol>
                  </a:tblGrid>
                  <a:tr h="5688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 </a:t>
                          </a:r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3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4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5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6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7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8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9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10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11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33567323"/>
                      </a:ext>
                    </a:extLst>
                  </a:tr>
                  <a:tr h="5044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59540122"/>
                      </a:ext>
                    </a:extLst>
                  </a:tr>
                  <a:tr h="5044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60917493"/>
                      </a:ext>
                    </a:extLst>
                  </a:tr>
                  <a:tr h="5688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VN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VN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10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93965980"/>
                      </a:ext>
                    </a:extLst>
                  </a:tr>
                  <a:tr h="2844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96443924"/>
                      </a:ext>
                    </a:extLst>
                  </a:tr>
                  <a:tr h="5044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74281393"/>
                      </a:ext>
                    </a:extLst>
                  </a:tr>
                  <a:tr h="5044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A</a:t>
                          </a:r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43038660"/>
                      </a:ext>
                    </a:extLst>
                  </a:tr>
                  <a:tr h="5688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sSub>
                                  <m:sSubPr>
                                    <m:ctrlPr>
                                      <a:rPr lang="en-VN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sSub>
                                  <m:sSubPr>
                                    <m:ctrlPr>
                                      <a:rPr lang="en-VN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2</a:t>
                          </a:r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2</a:t>
                          </a:r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7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9026792"/>
                      </a:ext>
                    </a:extLst>
                  </a:tr>
                  <a:tr h="2844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83780895"/>
                      </a:ext>
                    </a:extLst>
                  </a:tr>
                  <a:tr h="5044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34332256"/>
                      </a:ext>
                    </a:extLst>
                  </a:tr>
                  <a:tr h="5044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48406175"/>
                      </a:ext>
                    </a:extLst>
                  </a:tr>
                  <a:tr h="5688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sSub>
                                  <m:sSubPr>
                                    <m:ctrlPr>
                                      <a:rPr lang="en-VN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sSub>
                                  <m:sSubPr>
                                    <m:ctrlPr>
                                      <a:rPr lang="en-VN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80381338"/>
                      </a:ext>
                    </a:extLst>
                  </a:tr>
                  <a:tr h="2844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 </a:t>
                          </a:r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867417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2BA92BE-E020-E0F9-6077-2EBCC972C74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19600" y="351340"/>
              <a:ext cx="4571999" cy="615531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87872">
                      <a:extLst>
                        <a:ext uri="{9D8B030D-6E8A-4147-A177-3AD203B41FA5}">
                          <a16:colId xmlns:a16="http://schemas.microsoft.com/office/drawing/2014/main" val="2345082219"/>
                        </a:ext>
                      </a:extLst>
                    </a:gridCol>
                    <a:gridCol w="264923">
                      <a:extLst>
                        <a:ext uri="{9D8B030D-6E8A-4147-A177-3AD203B41FA5}">
                          <a16:colId xmlns:a16="http://schemas.microsoft.com/office/drawing/2014/main" val="191620978"/>
                        </a:ext>
                      </a:extLst>
                    </a:gridCol>
                    <a:gridCol w="284940">
                      <a:extLst>
                        <a:ext uri="{9D8B030D-6E8A-4147-A177-3AD203B41FA5}">
                          <a16:colId xmlns:a16="http://schemas.microsoft.com/office/drawing/2014/main" val="1890865894"/>
                        </a:ext>
                      </a:extLst>
                    </a:gridCol>
                    <a:gridCol w="274343">
                      <a:extLst>
                        <a:ext uri="{9D8B030D-6E8A-4147-A177-3AD203B41FA5}">
                          <a16:colId xmlns:a16="http://schemas.microsoft.com/office/drawing/2014/main" val="3383462933"/>
                        </a:ext>
                      </a:extLst>
                    </a:gridCol>
                    <a:gridCol w="274343">
                      <a:extLst>
                        <a:ext uri="{9D8B030D-6E8A-4147-A177-3AD203B41FA5}">
                          <a16:colId xmlns:a16="http://schemas.microsoft.com/office/drawing/2014/main" val="1259350914"/>
                        </a:ext>
                      </a:extLst>
                    </a:gridCol>
                    <a:gridCol w="274343">
                      <a:extLst>
                        <a:ext uri="{9D8B030D-6E8A-4147-A177-3AD203B41FA5}">
                          <a16:colId xmlns:a16="http://schemas.microsoft.com/office/drawing/2014/main" val="3599095810"/>
                        </a:ext>
                      </a:extLst>
                    </a:gridCol>
                    <a:gridCol w="274343">
                      <a:extLst>
                        <a:ext uri="{9D8B030D-6E8A-4147-A177-3AD203B41FA5}">
                          <a16:colId xmlns:a16="http://schemas.microsoft.com/office/drawing/2014/main" val="2364024499"/>
                        </a:ext>
                      </a:extLst>
                    </a:gridCol>
                    <a:gridCol w="254916">
                      <a:extLst>
                        <a:ext uri="{9D8B030D-6E8A-4147-A177-3AD203B41FA5}">
                          <a16:colId xmlns:a16="http://schemas.microsoft.com/office/drawing/2014/main" val="898968601"/>
                        </a:ext>
                      </a:extLst>
                    </a:gridCol>
                    <a:gridCol w="304369">
                      <a:extLst>
                        <a:ext uri="{9D8B030D-6E8A-4147-A177-3AD203B41FA5}">
                          <a16:colId xmlns:a16="http://schemas.microsoft.com/office/drawing/2014/main" val="2149233962"/>
                        </a:ext>
                      </a:extLst>
                    </a:gridCol>
                    <a:gridCol w="264923">
                      <a:extLst>
                        <a:ext uri="{9D8B030D-6E8A-4147-A177-3AD203B41FA5}">
                          <a16:colId xmlns:a16="http://schemas.microsoft.com/office/drawing/2014/main" val="2043312991"/>
                        </a:ext>
                      </a:extLst>
                    </a:gridCol>
                    <a:gridCol w="323797">
                      <a:extLst>
                        <a:ext uri="{9D8B030D-6E8A-4147-A177-3AD203B41FA5}">
                          <a16:colId xmlns:a16="http://schemas.microsoft.com/office/drawing/2014/main" val="1161841079"/>
                        </a:ext>
                      </a:extLst>
                    </a:gridCol>
                    <a:gridCol w="323797">
                      <a:extLst>
                        <a:ext uri="{9D8B030D-6E8A-4147-A177-3AD203B41FA5}">
                          <a16:colId xmlns:a16="http://schemas.microsoft.com/office/drawing/2014/main" val="2432649593"/>
                        </a:ext>
                      </a:extLst>
                    </a:gridCol>
                    <a:gridCol w="465090">
                      <a:extLst>
                        <a:ext uri="{9D8B030D-6E8A-4147-A177-3AD203B41FA5}">
                          <a16:colId xmlns:a16="http://schemas.microsoft.com/office/drawing/2014/main" val="1038746795"/>
                        </a:ext>
                      </a:extLst>
                    </a:gridCol>
                  </a:tblGrid>
                  <a:tr h="5688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 </a:t>
                          </a:r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3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4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5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6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7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8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9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10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11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33567323"/>
                      </a:ext>
                    </a:extLst>
                  </a:tr>
                  <a:tr h="504448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82" t="-115000" r="-365385" b="-10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59540122"/>
                      </a:ext>
                    </a:extLst>
                  </a:tr>
                  <a:tr h="504448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82" t="-215000" r="-365385" b="-9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60917493"/>
                      </a:ext>
                    </a:extLst>
                  </a:tr>
                  <a:tr h="568842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82" t="-286364" r="-365385" b="-7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10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93965980"/>
                      </a:ext>
                    </a:extLst>
                  </a:tr>
                  <a:tr h="2844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96443924"/>
                      </a:ext>
                    </a:extLst>
                  </a:tr>
                  <a:tr h="504448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82" t="-482500" r="-365385" b="-6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74281393"/>
                      </a:ext>
                    </a:extLst>
                  </a:tr>
                  <a:tr h="504448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82" t="-582500" r="-365385" b="-5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A</a:t>
                          </a:r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43038660"/>
                      </a:ext>
                    </a:extLst>
                  </a:tr>
                  <a:tr h="568842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82" t="-606667" r="-365385" b="-37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2</a:t>
                          </a:r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2</a:t>
                          </a:r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7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9026792"/>
                      </a:ext>
                    </a:extLst>
                  </a:tr>
                  <a:tr h="2844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83780895"/>
                      </a:ext>
                    </a:extLst>
                  </a:tr>
                  <a:tr h="504448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82" t="-850000" r="-365385" b="-27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34332256"/>
                      </a:ext>
                    </a:extLst>
                  </a:tr>
                  <a:tr h="504448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82" t="-950000" r="-365385" b="-17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A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C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G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T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48406175"/>
                      </a:ext>
                    </a:extLst>
                  </a:tr>
                  <a:tr h="568842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82" t="-933333" r="-365385" b="-5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-1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2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1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80381338"/>
                      </a:ext>
                    </a:extLst>
                  </a:tr>
                  <a:tr h="2844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VN" sz="12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 </a:t>
                          </a:r>
                          <a:endParaRPr lang="en-VN" sz="12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867417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BF0C92F-C026-3744-AD83-34BFAC8CB213}"/>
              </a:ext>
            </a:extLst>
          </p:cNvPr>
          <p:cNvSpPr txBox="1"/>
          <p:nvPr/>
        </p:nvSpPr>
        <p:spPr>
          <a:xfrm>
            <a:off x="1447800" y="4191000"/>
            <a:ext cx="206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dirty="0"/>
              <a:t>Score matrix</a:t>
            </a:r>
          </a:p>
        </p:txBody>
      </p:sp>
    </p:spTree>
    <p:extLst>
      <p:ext uri="{BB962C8B-B14F-4D97-AF65-F5344CB8AC3E}">
        <p14:creationId xmlns:p14="http://schemas.microsoft.com/office/powerpoint/2010/main" val="814739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457200"/>
            <a:ext cx="2362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Needlean and Wunsch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BE99F-F364-A042-C623-F8C7626CC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995" y="-76200"/>
            <a:ext cx="5115697" cy="701040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177746-33F5-1FDC-D61B-9C23C4075FA5}"/>
              </a:ext>
            </a:extLst>
          </p:cNvPr>
          <p:cNvSpPr txBox="1"/>
          <p:nvPr/>
        </p:nvSpPr>
        <p:spPr>
          <a:xfrm>
            <a:off x="457200" y="24384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dirty="0"/>
              <a:t>Complexity: ?</a:t>
            </a:r>
          </a:p>
        </p:txBody>
      </p:sp>
    </p:spTree>
    <p:extLst>
      <p:ext uri="{BB962C8B-B14F-4D97-AF65-F5344CB8AC3E}">
        <p14:creationId xmlns:p14="http://schemas.microsoft.com/office/powerpoint/2010/main" val="85645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457200"/>
            <a:ext cx="2362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Needlean and Wunsch Algorithm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12D6288-9D7F-0944-E8B7-0159520D8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9" y="471616"/>
            <a:ext cx="5587425" cy="4024184"/>
          </a:xfrm>
          <a:prstGeom prst="rect">
            <a:avLst/>
          </a:prstGeom>
          <a:effectLst>
            <a:softEdge rad="63500"/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9FF0F5E6-8199-FC02-3D98-D4617A311D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5107232"/>
                  </p:ext>
                </p:extLst>
              </p:nvPr>
            </p:nvGraphicFramePr>
            <p:xfrm>
              <a:off x="1828800" y="4754880"/>
              <a:ext cx="6959023" cy="13716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48602">
                      <a:extLst>
                        <a:ext uri="{9D8B030D-6E8A-4147-A177-3AD203B41FA5}">
                          <a16:colId xmlns:a16="http://schemas.microsoft.com/office/drawing/2014/main" val="734778582"/>
                        </a:ext>
                      </a:extLst>
                    </a:gridCol>
                    <a:gridCol w="503305">
                      <a:extLst>
                        <a:ext uri="{9D8B030D-6E8A-4147-A177-3AD203B41FA5}">
                          <a16:colId xmlns:a16="http://schemas.microsoft.com/office/drawing/2014/main" val="3627634799"/>
                        </a:ext>
                      </a:extLst>
                    </a:gridCol>
                    <a:gridCol w="541333">
                      <a:extLst>
                        <a:ext uri="{9D8B030D-6E8A-4147-A177-3AD203B41FA5}">
                          <a16:colId xmlns:a16="http://schemas.microsoft.com/office/drawing/2014/main" val="1018529736"/>
                        </a:ext>
                      </a:extLst>
                    </a:gridCol>
                    <a:gridCol w="521199">
                      <a:extLst>
                        <a:ext uri="{9D8B030D-6E8A-4147-A177-3AD203B41FA5}">
                          <a16:colId xmlns:a16="http://schemas.microsoft.com/office/drawing/2014/main" val="2799274220"/>
                        </a:ext>
                      </a:extLst>
                    </a:gridCol>
                    <a:gridCol w="521199">
                      <a:extLst>
                        <a:ext uri="{9D8B030D-6E8A-4147-A177-3AD203B41FA5}">
                          <a16:colId xmlns:a16="http://schemas.microsoft.com/office/drawing/2014/main" val="3576067987"/>
                        </a:ext>
                      </a:extLst>
                    </a:gridCol>
                    <a:gridCol w="521199">
                      <a:extLst>
                        <a:ext uri="{9D8B030D-6E8A-4147-A177-3AD203B41FA5}">
                          <a16:colId xmlns:a16="http://schemas.microsoft.com/office/drawing/2014/main" val="4085374953"/>
                        </a:ext>
                      </a:extLst>
                    </a:gridCol>
                    <a:gridCol w="521199">
                      <a:extLst>
                        <a:ext uri="{9D8B030D-6E8A-4147-A177-3AD203B41FA5}">
                          <a16:colId xmlns:a16="http://schemas.microsoft.com/office/drawing/2014/main" val="4021815034"/>
                        </a:ext>
                      </a:extLst>
                    </a:gridCol>
                    <a:gridCol w="484290">
                      <a:extLst>
                        <a:ext uri="{9D8B030D-6E8A-4147-A177-3AD203B41FA5}">
                          <a16:colId xmlns:a16="http://schemas.microsoft.com/office/drawing/2014/main" val="1780218527"/>
                        </a:ext>
                      </a:extLst>
                    </a:gridCol>
                    <a:gridCol w="578241">
                      <a:extLst>
                        <a:ext uri="{9D8B030D-6E8A-4147-A177-3AD203B41FA5}">
                          <a16:colId xmlns:a16="http://schemas.microsoft.com/office/drawing/2014/main" val="3026393485"/>
                        </a:ext>
                      </a:extLst>
                    </a:gridCol>
                    <a:gridCol w="503305">
                      <a:extLst>
                        <a:ext uri="{9D8B030D-6E8A-4147-A177-3AD203B41FA5}">
                          <a16:colId xmlns:a16="http://schemas.microsoft.com/office/drawing/2014/main" val="1141683411"/>
                        </a:ext>
                      </a:extLst>
                    </a:gridCol>
                    <a:gridCol w="615151">
                      <a:extLst>
                        <a:ext uri="{9D8B030D-6E8A-4147-A177-3AD203B41FA5}">
                          <a16:colId xmlns:a16="http://schemas.microsoft.com/office/drawing/2014/main" val="327575980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br>
                            <a:rPr lang="en-US" sz="1800" dirty="0">
                              <a:effectLst/>
                            </a:rPr>
                          </a:b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1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2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3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4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5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6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7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8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9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10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487335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A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C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T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A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C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G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G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T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T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0959804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A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G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T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G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A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C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G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G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G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T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527256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VN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VN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-1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-2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-1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2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662859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9FF0F5E6-8199-FC02-3D98-D4617A311D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5107232"/>
                  </p:ext>
                </p:extLst>
              </p:nvPr>
            </p:nvGraphicFramePr>
            <p:xfrm>
              <a:off x="1828800" y="4754880"/>
              <a:ext cx="6959023" cy="13716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48602">
                      <a:extLst>
                        <a:ext uri="{9D8B030D-6E8A-4147-A177-3AD203B41FA5}">
                          <a16:colId xmlns:a16="http://schemas.microsoft.com/office/drawing/2014/main" val="734778582"/>
                        </a:ext>
                      </a:extLst>
                    </a:gridCol>
                    <a:gridCol w="503305">
                      <a:extLst>
                        <a:ext uri="{9D8B030D-6E8A-4147-A177-3AD203B41FA5}">
                          <a16:colId xmlns:a16="http://schemas.microsoft.com/office/drawing/2014/main" val="3627634799"/>
                        </a:ext>
                      </a:extLst>
                    </a:gridCol>
                    <a:gridCol w="541333">
                      <a:extLst>
                        <a:ext uri="{9D8B030D-6E8A-4147-A177-3AD203B41FA5}">
                          <a16:colId xmlns:a16="http://schemas.microsoft.com/office/drawing/2014/main" val="1018529736"/>
                        </a:ext>
                      </a:extLst>
                    </a:gridCol>
                    <a:gridCol w="521199">
                      <a:extLst>
                        <a:ext uri="{9D8B030D-6E8A-4147-A177-3AD203B41FA5}">
                          <a16:colId xmlns:a16="http://schemas.microsoft.com/office/drawing/2014/main" val="2799274220"/>
                        </a:ext>
                      </a:extLst>
                    </a:gridCol>
                    <a:gridCol w="521199">
                      <a:extLst>
                        <a:ext uri="{9D8B030D-6E8A-4147-A177-3AD203B41FA5}">
                          <a16:colId xmlns:a16="http://schemas.microsoft.com/office/drawing/2014/main" val="3576067987"/>
                        </a:ext>
                      </a:extLst>
                    </a:gridCol>
                    <a:gridCol w="521199">
                      <a:extLst>
                        <a:ext uri="{9D8B030D-6E8A-4147-A177-3AD203B41FA5}">
                          <a16:colId xmlns:a16="http://schemas.microsoft.com/office/drawing/2014/main" val="4085374953"/>
                        </a:ext>
                      </a:extLst>
                    </a:gridCol>
                    <a:gridCol w="521199">
                      <a:extLst>
                        <a:ext uri="{9D8B030D-6E8A-4147-A177-3AD203B41FA5}">
                          <a16:colId xmlns:a16="http://schemas.microsoft.com/office/drawing/2014/main" val="4021815034"/>
                        </a:ext>
                      </a:extLst>
                    </a:gridCol>
                    <a:gridCol w="484290">
                      <a:extLst>
                        <a:ext uri="{9D8B030D-6E8A-4147-A177-3AD203B41FA5}">
                          <a16:colId xmlns:a16="http://schemas.microsoft.com/office/drawing/2014/main" val="1780218527"/>
                        </a:ext>
                      </a:extLst>
                    </a:gridCol>
                    <a:gridCol w="578241">
                      <a:extLst>
                        <a:ext uri="{9D8B030D-6E8A-4147-A177-3AD203B41FA5}">
                          <a16:colId xmlns:a16="http://schemas.microsoft.com/office/drawing/2014/main" val="3026393485"/>
                        </a:ext>
                      </a:extLst>
                    </a:gridCol>
                    <a:gridCol w="503305">
                      <a:extLst>
                        <a:ext uri="{9D8B030D-6E8A-4147-A177-3AD203B41FA5}">
                          <a16:colId xmlns:a16="http://schemas.microsoft.com/office/drawing/2014/main" val="1141683411"/>
                        </a:ext>
                      </a:extLst>
                    </a:gridCol>
                    <a:gridCol w="615151">
                      <a:extLst>
                        <a:ext uri="{9D8B030D-6E8A-4147-A177-3AD203B41FA5}">
                          <a16:colId xmlns:a16="http://schemas.microsoft.com/office/drawing/2014/main" val="32757598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algn="ctr"/>
                          <a:br>
                            <a:rPr lang="en-US" sz="1800" dirty="0">
                              <a:effectLst/>
                            </a:rPr>
                          </a:b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1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2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3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4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5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6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7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8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9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10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4873354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69" t="-214286" r="-323846" b="-2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A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C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T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  <a:sym typeface="Symbol" pitchFamily="2" charset="2"/>
                            </a:rPr>
                            <a:t>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A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C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G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G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T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T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0959804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69" t="-300000" r="-323846" b="-1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A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G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T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G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A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C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G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G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G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T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5272566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69" t="-400000" r="-323846" b="-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-1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-2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>
                              <a:effectLst/>
                            </a:rPr>
                            <a:t>2</a:t>
                          </a:r>
                          <a:endParaRPr lang="en-VN" sz="180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-1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effectLst/>
                            </a:rPr>
                            <a:t>2</a:t>
                          </a:r>
                          <a:endParaRPr lang="en-VN" sz="1800" dirty="0">
                            <a:effectLst/>
                            <a:latin typeface="Calibri" panose="020F050202020403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6628592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F7CA997-C31B-D8AC-FB2E-A0713E549357}"/>
                  </a:ext>
                </a:extLst>
              </p:cNvPr>
              <p:cNvSpPr txBox="1"/>
              <p:nvPr/>
            </p:nvSpPr>
            <p:spPr>
              <a:xfrm>
                <a:off x="261938" y="2590800"/>
                <a:ext cx="2786062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VN" sz="2000" dirty="0"/>
                  <a:t>The </a:t>
                </a:r>
                <a14:m>
                  <m:oMath xmlns:m="http://schemas.openxmlformats.org/officeDocument/2006/math">
                    <m:r>
                      <a:rPr lang="en-VN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VN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VN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VN" sz="20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VN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VN" sz="2000" dirty="0"/>
                  <a:t> table of</a:t>
                </a:r>
                <a:endParaRPr lang="en-US" sz="2000" b="0" i="1" dirty="0"/>
              </a:p>
              <a:p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2000" b="0" i="0">
                        <a:latin typeface="Cambria Math" panose="02040503050406030204" pitchFamily="18" charset="0"/>
                      </a:rPr>
                      <m:t>ACTACGGTT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2000" b="0" i="0">
                        <a:latin typeface="Cambria Math" panose="02040503050406030204" pitchFamily="18" charset="0"/>
                      </a:rPr>
                      <m:t>AGTGACGGGT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VN" sz="2000" dirty="0"/>
                  <a:t>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F7CA997-C31B-D8AC-FB2E-A0713E549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8" y="2590800"/>
                <a:ext cx="2786062" cy="1015663"/>
              </a:xfrm>
              <a:prstGeom prst="rect">
                <a:avLst/>
              </a:prstGeom>
              <a:blipFill>
                <a:blip r:embed="rId6"/>
                <a:stretch>
                  <a:fillRect l="-2262" t="-3704" r="-2262" b="-617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2218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756850" y="676870"/>
            <a:ext cx="7696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 dirty="0"/>
              <a:t>Exercise 1: Fill in the table </a:t>
            </a:r>
            <a:r>
              <a:rPr lang="en-VN" sz="2400" i="1" dirty="0"/>
              <a:t>F</a:t>
            </a:r>
            <a:r>
              <a:rPr lang="en-VN" sz="2400" dirty="0"/>
              <a:t> and align below sequences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997585-B8E0-9C84-8E94-5D6688CD80B3}"/>
                  </a:ext>
                </a:extLst>
              </p:cNvPr>
              <p:cNvSpPr txBox="1"/>
              <p:nvPr/>
            </p:nvSpPr>
            <p:spPr>
              <a:xfrm>
                <a:off x="76199" y="1600200"/>
                <a:ext cx="4528751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4572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GB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GB" sz="24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= GGTGGACG</a:t>
                </a:r>
                <a:endParaRPr lang="en-VN" sz="24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457200" indent="457200" algn="just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GB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GB" sz="24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1 = GGGTGGACGA</a:t>
                </a:r>
                <a:endParaRPr lang="en-VN" sz="24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997585-B8E0-9C84-8E94-5D6688CD8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" y="1600200"/>
                <a:ext cx="4528751" cy="907941"/>
              </a:xfrm>
              <a:prstGeom prst="rect">
                <a:avLst/>
              </a:prstGeom>
              <a:blipFill>
                <a:blip r:embed="rId3"/>
                <a:stretch>
                  <a:fillRect t="-5556" b="-1527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D47B63-1A93-B15A-550A-B9066E859F04}"/>
                  </a:ext>
                </a:extLst>
              </p:cNvPr>
              <p:cNvSpPr txBox="1"/>
              <p:nvPr/>
            </p:nvSpPr>
            <p:spPr>
              <a:xfrm>
                <a:off x="76199" y="2819400"/>
                <a:ext cx="4909751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4572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GB" sz="2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GB" sz="24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= GGTGGACGT</a:t>
                </a:r>
                <a:endParaRPr lang="en-VN" sz="2400" dirty="0"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457200" indent="4572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GB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GB" sz="24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= TGTGGTCGA</a:t>
                </a:r>
                <a:endParaRPr lang="en-VN" sz="24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D47B63-1A93-B15A-550A-B9066E859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" y="2819400"/>
                <a:ext cx="4909751" cy="907941"/>
              </a:xfrm>
              <a:prstGeom prst="rect">
                <a:avLst/>
              </a:prstGeom>
              <a:blipFill>
                <a:blip r:embed="rId4"/>
                <a:stretch>
                  <a:fillRect t="-5556" b="-1527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E0D01B-47EC-54E3-A444-FC6BAA626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555699"/>
              </p:ext>
            </p:extLst>
          </p:nvPr>
        </p:nvGraphicFramePr>
        <p:xfrm>
          <a:off x="5238235" y="1717309"/>
          <a:ext cx="3200400" cy="1981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161305445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7357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80663261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66173759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1676466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98724528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A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G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T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sym typeface="Symbol" pitchFamily="2" charset="2"/>
                        </a:rPr>
                        <a:t>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493763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A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301992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C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9525014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G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193803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-2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394436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sym typeface="Symbol" pitchFamily="2" charset="2"/>
                        </a:rPr>
                        <a:t>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-2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246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C3BE7B7-5F17-2FED-1D42-AC0EA8E71607}"/>
              </a:ext>
            </a:extLst>
          </p:cNvPr>
          <p:cNvSpPr txBox="1"/>
          <p:nvPr/>
        </p:nvSpPr>
        <p:spPr>
          <a:xfrm>
            <a:off x="6181468" y="3698509"/>
            <a:ext cx="2509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dirty="0"/>
              <a:t>score matrix</a:t>
            </a:r>
          </a:p>
        </p:txBody>
      </p:sp>
    </p:spTree>
    <p:extLst>
      <p:ext uri="{BB962C8B-B14F-4D97-AF65-F5344CB8AC3E}">
        <p14:creationId xmlns:p14="http://schemas.microsoft.com/office/powerpoint/2010/main" val="2509458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793636" y="457200"/>
            <a:ext cx="7696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Gap penalty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C1A68F-D174-854A-951B-08036A98A9AA}"/>
              </a:ext>
            </a:extLst>
          </p:cNvPr>
          <p:cNvSpPr txBox="1"/>
          <p:nvPr/>
        </p:nvSpPr>
        <p:spPr>
          <a:xfrm>
            <a:off x="838200" y="1295400"/>
            <a:ext cx="76962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Constant (linear) gap model: </a:t>
            </a:r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e same cost for all gaps</a:t>
            </a:r>
          </a:p>
          <a:p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VN" i="1" dirty="0">
                <a:latin typeface="Courier New" panose="02070309020205020404" pitchFamily="49" charset="0"/>
                <a:cs typeface="Courier New" panose="02070309020205020404" pitchFamily="49" charset="0"/>
              </a:rPr>
              <a:t>X1</a:t>
            </a:r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 = ACTAGTGTGATGGTT</a:t>
            </a:r>
          </a:p>
          <a:p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VN" i="1" dirty="0">
                <a:latin typeface="Courier New" panose="02070309020205020404" pitchFamily="49" charset="0"/>
                <a:cs typeface="Courier New" panose="02070309020205020404" pitchFamily="49" charset="0"/>
              </a:rPr>
              <a:t>Y1</a:t>
            </a:r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 = A-T-G-GT--T----</a:t>
            </a:r>
          </a:p>
          <a:p>
            <a:endParaRPr lang="en-V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VN" b="1" dirty="0">
                <a:latin typeface="Courier New" panose="02070309020205020404" pitchFamily="49" charset="0"/>
                <a:cs typeface="Courier New" panose="02070309020205020404" pitchFamily="49" charset="0"/>
              </a:rPr>
              <a:t>Affine gap model: </a:t>
            </a:r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The cost of openning gap is much larger than the cost of extension gap</a:t>
            </a:r>
          </a:p>
          <a:p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VN" i="1" dirty="0">
                <a:latin typeface="Courier New" panose="02070309020205020404" pitchFamily="49" charset="0"/>
                <a:cs typeface="Courier New" panose="02070309020205020404" pitchFamily="49" charset="0"/>
              </a:rPr>
              <a:t>X2</a:t>
            </a:r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 = ACTAGTGATGGTG</a:t>
            </a:r>
          </a:p>
          <a:p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VN" i="1" dirty="0">
                <a:latin typeface="Courier New" panose="02070309020205020404" pitchFamily="49" charset="0"/>
                <a:cs typeface="Courier New" panose="02070309020205020404" pitchFamily="49" charset="0"/>
              </a:rPr>
              <a:t>Y2</a:t>
            </a:r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 = -------ATGGTT</a:t>
            </a:r>
          </a:p>
          <a:p>
            <a:endParaRPr lang="en-V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VN" b="1" dirty="0">
                <a:latin typeface="Courier New" panose="02070309020205020404" pitchFamily="49" charset="0"/>
                <a:cs typeface="Courier New" panose="02070309020205020404" pitchFamily="49" charset="0"/>
              </a:rPr>
              <a:t>Why: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More biologically meaning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In biological sequences (DNA, RNA, proteins), insertion/deletion events tend to occur in blocks rather than at single positions. The affine model better represents this by penalizing long gaps less severely than multiple short gaps.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Better alignment quality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Encourages biologically meaningful alignments by avoiding excessive fragmentation.</a:t>
            </a:r>
            <a:endParaRPr lang="en-V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V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580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756850" y="676870"/>
            <a:ext cx="7696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Local pairwise alignment</a:t>
            </a:r>
          </a:p>
        </p:txBody>
      </p:sp>
      <p:pic>
        <p:nvPicPr>
          <p:cNvPr id="17410" name="Picture 2" descr="13_Sequence_Alignment – BCH709 Introduction to Bioinformatics">
            <a:extLst>
              <a:ext uri="{FF2B5EF4-FFF2-40B4-BE49-F238E27FC236}">
                <a16:creationId xmlns:a16="http://schemas.microsoft.com/office/drawing/2014/main" id="{7C463D1D-FE61-E099-51AE-15577A3CB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6" y="1524000"/>
            <a:ext cx="7453993" cy="4658746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468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185850" y="762000"/>
            <a:ext cx="49581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Local pairwise alignment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6C4689-EDF4-ADF8-66A5-FE9D002E4BCE}"/>
                  </a:ext>
                </a:extLst>
              </p:cNvPr>
              <p:cNvSpPr txBox="1"/>
              <p:nvPr/>
            </p:nvSpPr>
            <p:spPr>
              <a:xfrm>
                <a:off x="851313" y="4724400"/>
                <a:ext cx="7825615" cy="1884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VN" sz="2000" b="1" dirty="0"/>
                  <a:t>Problem:</a:t>
                </a:r>
                <a:r>
                  <a:rPr lang="en-VN" sz="2000" dirty="0"/>
                  <a:t> </a:t>
                </a:r>
                <a:r>
                  <a:rPr lang="en-VN" sz="2000" i="1" dirty="0"/>
                  <a:t>X</a:t>
                </a:r>
                <a:r>
                  <a:rPr lang="en-VN" sz="2000" dirty="0"/>
                  <a:t> and </a:t>
                </a:r>
                <a:r>
                  <a:rPr lang="en-VN" sz="2000" i="1" dirty="0"/>
                  <a:t>Y </a:t>
                </a:r>
                <a:r>
                  <a:rPr lang="en-VN" sz="2000" dirty="0"/>
                  <a:t>are only similar at some part (e.g., conserved biologically meaningful regions, functional regions,…)</a:t>
                </a:r>
              </a:p>
              <a:p>
                <a:pPr>
                  <a:lnSpc>
                    <a:spcPct val="150000"/>
                  </a:lnSpc>
                </a:pPr>
                <a:r>
                  <a:rPr lang="en-VN" sz="2000" b="1" dirty="0"/>
                  <a:t>Solution: </a:t>
                </a:r>
                <a:r>
                  <a:rPr lang="en-VN" sz="2000" dirty="0"/>
                  <a:t>Find sub-sequences </a:t>
                </a:r>
                <a14:m>
                  <m:oMath xmlns:m="http://schemas.openxmlformats.org/officeDocument/2006/math">
                    <m:r>
                      <a:rPr lang="en-VN" sz="2000" i="1" dirty="0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VN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VN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VN" sz="20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VN" sz="200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VN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sz="2000" i="1" dirty="0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VN" sz="2000" dirty="0"/>
                  <a:t> with the highest score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6C4689-EDF4-ADF8-66A5-FE9D002E4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13" y="4724400"/>
                <a:ext cx="7825615" cy="1884747"/>
              </a:xfrm>
              <a:prstGeom prst="rect">
                <a:avLst/>
              </a:prstGeom>
              <a:blipFill>
                <a:blip r:embed="rId3"/>
                <a:stretch>
                  <a:fillRect l="-972" b="-469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251D1D2-EE28-4D96-0794-FC6ACDD1E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451" y="1447800"/>
            <a:ext cx="7383492" cy="3049054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450692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228600" y="609600"/>
            <a:ext cx="27483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Local pairwise alignment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05C9F3-93A7-9535-40C7-61645E2AF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854" y="838200"/>
            <a:ext cx="5019204" cy="1714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522626-8C37-E23D-628E-D850BA44B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854" y="2743200"/>
            <a:ext cx="5047019" cy="3733800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  <a:softEdge rad="12700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2AC1D4-07F3-0F0B-499F-5D3D1095DC0F}"/>
                  </a:ext>
                </a:extLst>
              </p:cNvPr>
              <p:cNvSpPr txBox="1"/>
              <p:nvPr/>
            </p:nvSpPr>
            <p:spPr>
              <a:xfrm>
                <a:off x="228600" y="3652855"/>
                <a:ext cx="3689254" cy="1719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i="1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Exercise: </a:t>
                </a:r>
                <a:r>
                  <a:rPr lang="en-US" b="0" i="1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Fill in the table F </a:t>
                </a:r>
                <a:r>
                  <a:rPr lang="en-US" b="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of two sequences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=′</m:t>
                    </m:r>
                    <m:r>
                      <m:rPr>
                        <m:sty m:val="p"/>
                      </m:rPr>
                      <a:rPr lang="en-US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TCGGTGACC</m:t>
                    </m:r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US" dirty="0"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and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b="0" i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‘</m:t>
                    </m:r>
                    <m:r>
                      <m:rPr>
                        <m:nor/>
                      </m:rPr>
                      <a:rPr lang="en-US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AGGGGACGGG</m:t>
                    </m:r>
                  </m:oMath>
                </a14:m>
                <a:r>
                  <a:rPr lang="en-VN" dirty="0">
                    <a:effectLst/>
                    <a:latin typeface="Courier New" panose="02070309020205020404" pitchFamily="49" charset="0"/>
                    <a:cs typeface="Courier New" panose="02070309020205020404" pitchFamily="49" charset="0"/>
                  </a:rPr>
                  <a:t>’ </a:t>
                </a:r>
                <a:endParaRPr lang="en-VN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2AC1D4-07F3-0F0B-499F-5D3D1095D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652855"/>
                <a:ext cx="3689254" cy="1719702"/>
              </a:xfrm>
              <a:prstGeom prst="rect">
                <a:avLst/>
              </a:prstGeom>
              <a:blipFill>
                <a:blip r:embed="rId5"/>
                <a:stretch>
                  <a:fillRect l="-1718" b="-514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999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723900" y="457200"/>
            <a:ext cx="7696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Protein pairwise alignment: score matrix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0EB3713-0EE1-1CC1-7440-92EB20ED2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" y="1219200"/>
            <a:ext cx="7315200" cy="5486400"/>
          </a:xfrm>
          <a:prstGeom prst="rect">
            <a:avLst/>
          </a:prstGeom>
          <a:noFill/>
          <a:effectLst>
            <a:softEdge rad="94865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799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228470" y="533400"/>
            <a:ext cx="26671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Amino acid score matrix: PAM-250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D6A200-17B0-B97F-427E-2D335A679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533400"/>
            <a:ext cx="5867529" cy="5903400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6309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6940" y="533400"/>
            <a:ext cx="70867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Amino acid score matrix: BLOSUM 62</a:t>
            </a: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A6187D53-B151-15F7-D126-96C4435BF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44" y="1281430"/>
            <a:ext cx="7861755" cy="5419970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819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41700" y="533400"/>
            <a:ext cx="8245100" cy="1689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VN" sz="2400" dirty="0"/>
              <a:t>Exercise:  Align below protein sequences with score matrix</a:t>
            </a:r>
          </a:p>
          <a:p>
            <a:pPr marL="971550" lvl="1" indent="-514350">
              <a:lnSpc>
                <a:spcPct val="150000"/>
              </a:lnSpc>
              <a:buAutoNum type="alphaLcParenR"/>
            </a:pPr>
            <a:r>
              <a:rPr lang="en-VN" sz="2400" dirty="0"/>
              <a:t>PAM-250</a:t>
            </a:r>
          </a:p>
          <a:p>
            <a:pPr marL="971550" lvl="1" indent="-514350">
              <a:lnSpc>
                <a:spcPct val="150000"/>
              </a:lnSpc>
              <a:buAutoNum type="alphaLcParenR"/>
            </a:pPr>
            <a:r>
              <a:rPr lang="en-VN" sz="2400" dirty="0"/>
              <a:t>BLOSUM 62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D0CDD-3937-7234-E369-94C525E54335}"/>
              </a:ext>
            </a:extLst>
          </p:cNvPr>
          <p:cNvSpPr txBox="1"/>
          <p:nvPr/>
        </p:nvSpPr>
        <p:spPr>
          <a:xfrm>
            <a:off x="923322" y="2595314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X1</a:t>
            </a: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‘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TWYYYYTACAA</a:t>
            </a: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’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Y1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‘WYYGTAAAAA’</a:t>
            </a:r>
          </a:p>
          <a:p>
            <a:endParaRPr lang="en-US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endParaRPr lang="en-US" sz="24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D1E2-FA8F-DDAD-A2BD-0BAC3D910D3C}"/>
                  </a:ext>
                </a:extLst>
              </p:cNvPr>
              <p:cNvSpPr txBox="1"/>
              <p:nvPr/>
            </p:nvSpPr>
            <p:spPr>
              <a:xfrm>
                <a:off x="1172" y="3711003"/>
                <a:ext cx="4572000" cy="907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457200" algn="just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GB" sz="2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GB" sz="24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= ‘RNADCQEGH’</a:t>
                </a:r>
                <a:endParaRPr lang="en-VN" sz="24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457200" indent="457200" algn="just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GB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GB" sz="24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2 = ‘RRNDCQEGHH’</a:t>
                </a:r>
                <a:endParaRPr lang="en-VN" sz="24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6D1E2-FA8F-DDAD-A2BD-0BAC3D910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" y="3711003"/>
                <a:ext cx="4572000" cy="907941"/>
              </a:xfrm>
              <a:prstGeom prst="rect">
                <a:avLst/>
              </a:prstGeom>
              <a:blipFill>
                <a:blip r:embed="rId3"/>
                <a:stretch>
                  <a:fillRect t="-4167" b="-1527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3721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685800" y="533400"/>
            <a:ext cx="6629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Sequence similarity searching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B39289-4D0F-C15D-562C-E25C3AC7E950}"/>
              </a:ext>
            </a:extLst>
          </p:cNvPr>
          <p:cNvSpPr txBox="1"/>
          <p:nvPr/>
        </p:nvSpPr>
        <p:spPr>
          <a:xfrm>
            <a:off x="676422" y="1289602"/>
            <a:ext cx="8238978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V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Given a sequence X,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finding regions of similarity between X and sequences in a database. The goal is to identify matches that indicate biological relationships, functional similarities, or evolutionary connections.</a:t>
            </a:r>
            <a:endParaRPr lang="en-V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4287A9-AC6D-5935-6DAE-A36344B7A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810000"/>
            <a:ext cx="5624879" cy="2752882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958220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314469" y="107472"/>
            <a:ext cx="8001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Basic local alignment search tool</a:t>
            </a:r>
          </a:p>
        </p:txBody>
      </p:sp>
      <p:pic>
        <p:nvPicPr>
          <p:cNvPr id="19462" name="Picture 6">
            <a:extLst>
              <a:ext uri="{FF2B5EF4-FFF2-40B4-BE49-F238E27FC236}">
                <a16:creationId xmlns:a16="http://schemas.microsoft.com/office/drawing/2014/main" id="{D7064C4D-7AE5-B52F-79BB-A64C859E7D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0"/>
          <a:stretch/>
        </p:blipFill>
        <p:spPr bwMode="auto">
          <a:xfrm>
            <a:off x="314469" y="838200"/>
            <a:ext cx="8515061" cy="5619940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67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339086" y="457200"/>
            <a:ext cx="8001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Blast with nucleotide sequence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895792-25D4-9F32-9C9C-83037D7B6167}"/>
              </a:ext>
            </a:extLst>
          </p:cNvPr>
          <p:cNvSpPr txBox="1"/>
          <p:nvPr/>
        </p:nvSpPr>
        <p:spPr>
          <a:xfrm>
            <a:off x="339086" y="1371600"/>
            <a:ext cx="81953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Search the human gene with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accession number: M26868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Perform Blast search with the obtained sequence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What is the e-value in the results from Blast search?</a:t>
            </a:r>
            <a:endParaRPr lang="en-V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VN" sz="24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V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520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339086" y="457200"/>
            <a:ext cx="8001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Blast with protein sequence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895792-25D4-9F32-9C9C-83037D7B6167}"/>
              </a:ext>
            </a:extLst>
          </p:cNvPr>
          <p:cNvSpPr txBox="1"/>
          <p:nvPr/>
        </p:nvSpPr>
        <p:spPr>
          <a:xfrm>
            <a:off x="339086" y="1371600"/>
            <a:ext cx="8423914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Search the protein sequence with GI:1293615</a:t>
            </a:r>
            <a:r>
              <a:rPr lang="en-V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Perform Blast search using the score matrix: </a:t>
            </a:r>
          </a:p>
          <a:p>
            <a:pPr marL="914400" lvl="1" indent="-457200">
              <a:lnSpc>
                <a:spcPct val="150000"/>
              </a:lnSpc>
              <a:buAutoNum type="alphaLcParenR"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PAM-250 </a:t>
            </a:r>
          </a:p>
          <a:p>
            <a:pPr marL="914400" lvl="1" indent="-457200">
              <a:lnSpc>
                <a:spcPct val="150000"/>
              </a:lnSpc>
              <a:buAutoNum type="alphaLcParenR"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BLOSUM 62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Compare the two obtained results</a:t>
            </a:r>
            <a:endParaRPr lang="en-V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V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141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339086" y="457200"/>
            <a:ext cx="8001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3200" dirty="0"/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895792-25D4-9F32-9C9C-83037D7B6167}"/>
              </a:ext>
            </a:extLst>
          </p:cNvPr>
          <p:cNvSpPr txBox="1"/>
          <p:nvPr/>
        </p:nvSpPr>
        <p:spPr>
          <a:xfrm>
            <a:off x="339086" y="1371600"/>
            <a:ext cx="8423914" cy="3797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1. Given two nucleotide sequences in the file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input.fasta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’, implement a program to align the two sequences with the following score system: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Match: 1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Mismatch: -1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Insertion/deletion (indel): -2</a:t>
            </a:r>
          </a:p>
          <a:p>
            <a:pPr>
              <a:lnSpc>
                <a:spcPct val="150000"/>
              </a:lnSpc>
            </a:pPr>
            <a:endParaRPr lang="en-V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2.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VN" dirty="0">
                <a:latin typeface="Courier New" panose="02070309020205020404" pitchFamily="49" charset="0"/>
                <a:cs typeface="Courier New" panose="02070309020205020404" pitchFamily="49" charset="0"/>
              </a:rPr>
              <a:t>sing the above score score system with affine gap cost model, i.e., openning gap=-5 and extension gap=-0.5</a:t>
            </a:r>
          </a:p>
        </p:txBody>
      </p:sp>
    </p:spTree>
    <p:extLst>
      <p:ext uri="{BB962C8B-B14F-4D97-AF65-F5344CB8AC3E}">
        <p14:creationId xmlns:p14="http://schemas.microsoft.com/office/powerpoint/2010/main" val="42739675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{D202D816-C2DE-F343-9016-56435A1429AF}tf10001120</Template>
  <TotalTime>3768</TotalTime>
  <Words>1132</Words>
  <Application>Microsoft Macintosh PowerPoint</Application>
  <PresentationFormat>On-screen Show (4:3)</PresentationFormat>
  <Paragraphs>505</Paragraphs>
  <Slides>27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</vt:lpstr>
      <vt:lpstr>Calibri</vt:lpstr>
      <vt:lpstr>Cambria Math</vt:lpstr>
      <vt:lpstr>Courier New</vt:lpstr>
      <vt:lpstr>Gill Sans MT</vt:lpstr>
      <vt:lpstr>Rockwell</vt:lpstr>
      <vt:lpstr>Rockwell Condensed</vt:lpstr>
      <vt:lpstr>Rockwell Extra Bold</vt:lpstr>
      <vt:lpstr>Symbol</vt:lpstr>
      <vt:lpstr>Wingdings</vt:lpstr>
      <vt:lpstr>Wood Type</vt:lpstr>
      <vt:lpstr>Parcel</vt:lpstr>
      <vt:lpstr>PAIRWISE Alignment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UCSD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L2_MolBio</dc:title>
  <dc:creator>mchaisso</dc:creator>
  <cp:lastModifiedBy>Microsoft Office User</cp:lastModifiedBy>
  <cp:revision>670</cp:revision>
  <dcterms:created xsi:type="dcterms:W3CDTF">2004-04-08T22:16:51Z</dcterms:created>
  <dcterms:modified xsi:type="dcterms:W3CDTF">2025-10-01T14:53:15Z</dcterms:modified>
</cp:coreProperties>
</file>